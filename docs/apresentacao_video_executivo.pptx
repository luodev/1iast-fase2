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charts/chart1.xml" ContentType="application/vnd.openxmlformats-officedocument.drawingml.chart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23283F"/>
                </a:solidFill>
                <a:latin typeface="Calibri"/>
              </a:defRPr>
            </a:pPr>
            <a:r>
              <a:rPr sz="1300" b="0" i="0" u="none" strike="noStrike">
                <a:solidFill>
                  <a:srgbClr val="23283F"/>
                </a:solidFill>
                <a:latin typeface="Calibri"/>
              </a:rPr>
              <a:t>Gap entre taxa 2024 e meta 2025, por UF (p.p.)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Acima da meta</c:v>
                </c:pt>
              </c:strCache>
            </c:strRef>
          </c:tx>
          <c:spPr>
            <a:solidFill>
              <a:srgbClr val="1E2761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Sheet1!$A$2:$A$25</c:f>
              <c:multiLvlStrCache>
                <c:ptCount val="24"/>
                <c:lvl>
                  <c:pt idx="0">
                    <c:v>CE</c:v>
                  </c:pt>
                  <c:pt idx="1">
                    <c:v>MG</c:v>
                  </c:pt>
                  <c:pt idx="2">
                    <c:v>GO</c:v>
                  </c:pt>
                  <c:pt idx="3">
                    <c:v>ES</c:v>
                  </c:pt>
                  <c:pt idx="4">
                    <c:v>PI</c:v>
                  </c:pt>
                  <c:pt idx="5">
                    <c:v>MS</c:v>
                  </c:pt>
                  <c:pt idx="6">
                    <c:v>MT</c:v>
                  </c:pt>
                  <c:pt idx="7">
                    <c:v>PB</c:v>
                  </c:pt>
                  <c:pt idx="8">
                    <c:v>AP</c:v>
                  </c:pt>
                  <c:pt idx="9">
                    <c:v>MA</c:v>
                  </c:pt>
                  <c:pt idx="10">
                    <c:v>SC</c:v>
                  </c:pt>
                  <c:pt idx="11">
                    <c:v>PR</c:v>
                  </c:pt>
                  <c:pt idx="12">
                    <c:v>PE</c:v>
                  </c:pt>
                  <c:pt idx="13">
                    <c:v>TO</c:v>
                  </c:pt>
                  <c:pt idx="14">
                    <c:v>SP</c:v>
                  </c:pt>
                  <c:pt idx="15">
                    <c:v>RJ</c:v>
                  </c:pt>
                  <c:pt idx="16">
                    <c:v>AL</c:v>
                  </c:pt>
                  <c:pt idx="17">
                    <c:v>RO</c:v>
                  </c:pt>
                  <c:pt idx="18">
                    <c:v>AC</c:v>
                  </c:pt>
                  <c:pt idx="19">
                    <c:v>PA</c:v>
                  </c:pt>
                  <c:pt idx="20">
                    <c:v>RN</c:v>
                  </c:pt>
                  <c:pt idx="21">
                    <c:v>BA</c:v>
                  </c:pt>
                  <c:pt idx="22">
                    <c:v>AM</c:v>
                  </c:pt>
                  <c:pt idx="23">
                    <c:v>RS</c:v>
                  </c:pt>
                </c:lvl>
              </c:multiLvlStrCache>
            </c:multiLvlStrRef>
          </c:cat>
          <c:val>
            <c:numRef>
              <c:f>Sheet1!$B$2:$B$25</c:f>
              <c:numCache>
                <c:formatCode>General</c:formatCode>
                <c:ptCount val="24"/>
                <c:pt idx="0">
                  <c:v>5.3</c:v>
                </c:pt>
                <c:pt idx="1">
                  <c:v>5</c:v>
                </c:pt>
                <c:pt idx="2">
                  <c:v>1.7</c:v>
                </c:pt>
                <c:pt idx="3">
                  <c:v/>
                </c:pt>
                <c:pt idx="4">
                  <c:v/>
                </c:pt>
                <c:pt idx="5">
                  <c:v/>
                </c:pt>
                <c:pt idx="6">
                  <c:v/>
                </c:pt>
                <c:pt idx="7">
                  <c:v/>
                </c:pt>
                <c:pt idx="8">
                  <c:v/>
                </c:pt>
                <c:pt idx="9">
                  <c:v/>
                </c:pt>
                <c:pt idx="10">
                  <c:v/>
                </c:pt>
                <c:pt idx="11">
                  <c:v/>
                </c:pt>
                <c:pt idx="12">
                  <c:v/>
                </c:pt>
                <c:pt idx="13">
                  <c:v/>
                </c:pt>
                <c:pt idx="14">
                  <c:v/>
                </c:pt>
                <c:pt idx="15">
                  <c:v/>
                </c:pt>
                <c:pt idx="16">
                  <c:v/>
                </c:pt>
                <c:pt idx="17">
                  <c:v/>
                </c:pt>
                <c:pt idx="18">
                  <c:v/>
                </c:pt>
                <c:pt idx="19">
                  <c:v/>
                </c:pt>
                <c:pt idx="20">
                  <c:v/>
                </c:pt>
                <c:pt idx="21">
                  <c:v/>
                </c:pt>
                <c:pt idx="22">
                  <c:v/>
                </c:pt>
                <c:pt idx="23">
                  <c:v/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Abaixo da meta</c:v>
                </c:pt>
              </c:strCache>
            </c:strRef>
          </c:tx>
          <c:spPr>
            <a:solidFill>
              <a:srgbClr val="F96167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Sheet1!$A$2:$A$25</c:f>
              <c:multiLvlStrCache>
                <c:ptCount val="24"/>
                <c:lvl>
                  <c:pt idx="0">
                    <c:v>CE</c:v>
                  </c:pt>
                  <c:pt idx="1">
                    <c:v>MG</c:v>
                  </c:pt>
                  <c:pt idx="2">
                    <c:v>GO</c:v>
                  </c:pt>
                  <c:pt idx="3">
                    <c:v>ES</c:v>
                  </c:pt>
                  <c:pt idx="4">
                    <c:v>PI</c:v>
                  </c:pt>
                  <c:pt idx="5">
                    <c:v>MS</c:v>
                  </c:pt>
                  <c:pt idx="6">
                    <c:v>MT</c:v>
                  </c:pt>
                  <c:pt idx="7">
                    <c:v>PB</c:v>
                  </c:pt>
                  <c:pt idx="8">
                    <c:v>AP</c:v>
                  </c:pt>
                  <c:pt idx="9">
                    <c:v>MA</c:v>
                  </c:pt>
                  <c:pt idx="10">
                    <c:v>SC</c:v>
                  </c:pt>
                  <c:pt idx="11">
                    <c:v>PR</c:v>
                  </c:pt>
                  <c:pt idx="12">
                    <c:v>PE</c:v>
                  </c:pt>
                  <c:pt idx="13">
                    <c:v>TO</c:v>
                  </c:pt>
                  <c:pt idx="14">
                    <c:v>SP</c:v>
                  </c:pt>
                  <c:pt idx="15">
                    <c:v>RJ</c:v>
                  </c:pt>
                  <c:pt idx="16">
                    <c:v>AL</c:v>
                  </c:pt>
                  <c:pt idx="17">
                    <c:v>RO</c:v>
                  </c:pt>
                  <c:pt idx="18">
                    <c:v>AC</c:v>
                  </c:pt>
                  <c:pt idx="19">
                    <c:v>PA</c:v>
                  </c:pt>
                  <c:pt idx="20">
                    <c:v>RN</c:v>
                  </c:pt>
                  <c:pt idx="21">
                    <c:v>BA</c:v>
                  </c:pt>
                  <c:pt idx="22">
                    <c:v>AM</c:v>
                  </c:pt>
                  <c:pt idx="23">
                    <c:v>RS</c:v>
                  </c:pt>
                </c:lvl>
              </c:multiLvlStrCache>
            </c:multiLvlStrRef>
          </c:cat>
          <c:val>
            <c:numRef>
              <c:f>Sheet1!$C$2:$C$25</c:f>
              <c:numCache>
                <c:formatCode>General</c:formatCode>
                <c:ptCount val="24"/>
                <c:pt idx="0">
                  <c:v/>
                </c:pt>
                <c:pt idx="1">
                  <c:v/>
                </c:pt>
                <c:pt idx="2">
                  <c:v/>
                </c:pt>
                <c:pt idx="3">
                  <c:v>-0.9</c:v>
                </c:pt>
                <c:pt idx="4">
                  <c:v>-1.7</c:v>
                </c:pt>
                <c:pt idx="5">
                  <c:v>-2</c:v>
                </c:pt>
                <c:pt idx="6">
                  <c:v>-2.2</c:v>
                </c:pt>
                <c:pt idx="7">
                  <c:v>-4.5</c:v>
                </c:pt>
                <c:pt idx="8">
                  <c:v>-4.5</c:v>
                </c:pt>
                <c:pt idx="9">
                  <c:v>-4.5</c:v>
                </c:pt>
                <c:pt idx="10">
                  <c:v>-4.5</c:v>
                </c:pt>
                <c:pt idx="11">
                  <c:v>-4.8</c:v>
                </c:pt>
                <c:pt idx="12">
                  <c:v>-5</c:v>
                </c:pt>
                <c:pt idx="13">
                  <c:v>-5.3</c:v>
                </c:pt>
                <c:pt idx="14">
                  <c:v>-5.4</c:v>
                </c:pt>
                <c:pt idx="15">
                  <c:v>-6</c:v>
                </c:pt>
                <c:pt idx="16">
                  <c:v>-6.5</c:v>
                </c:pt>
                <c:pt idx="17">
                  <c:v>-6.9</c:v>
                </c:pt>
                <c:pt idx="18">
                  <c:v>-8.7</c:v>
                </c:pt>
                <c:pt idx="19">
                  <c:v>-11.1</c:v>
                </c:pt>
                <c:pt idx="20">
                  <c:v>-12.4</c:v>
                </c:pt>
                <c:pt idx="21">
                  <c:v>-14.2</c:v>
                </c:pt>
                <c:pt idx="22">
                  <c:v>-14.8</c:v>
                </c:pt>
                <c:pt idx="23">
                  <c:v>-24.6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40"/>
        <c:overlap val="10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50" b="0" i="0" u="none" strike="noStrike">
                <a:solidFill>
                  <a:srgbClr val="6B7280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3E7EF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6B7280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548640"/>
            <a:ext cx="219456" cy="219456"/>
          </a:xfrm>
          <a:prstGeom prst="ellipse">
            <a:avLst/>
          </a:prstGeom>
          <a:solidFill>
            <a:srgbClr val="CD7F32"/>
          </a:solidFill>
          <a:ln/>
        </p:spPr>
      </p:sp>
      <p:sp>
        <p:nvSpPr>
          <p:cNvPr id="3" name="Shape 1"/>
          <p:cNvSpPr/>
          <p:nvPr/>
        </p:nvSpPr>
        <p:spPr>
          <a:xfrm>
            <a:off x="786384" y="548640"/>
            <a:ext cx="219456" cy="219456"/>
          </a:xfrm>
          <a:prstGeom prst="ellipse">
            <a:avLst/>
          </a:prstGeom>
          <a:solidFill>
            <a:srgbClr val="9FA6AD"/>
          </a:solidFill>
          <a:ln/>
        </p:spPr>
      </p:sp>
      <p:sp>
        <p:nvSpPr>
          <p:cNvPr id="4" name="Shape 2"/>
          <p:cNvSpPr/>
          <p:nvPr/>
        </p:nvSpPr>
        <p:spPr>
          <a:xfrm>
            <a:off x="1069848" y="548640"/>
            <a:ext cx="219456" cy="219456"/>
          </a:xfrm>
          <a:prstGeom prst="ellipse">
            <a:avLst/>
          </a:prstGeom>
          <a:solidFill>
            <a:srgbClr val="D4A017"/>
          </a:solidFill>
          <a:ln/>
        </p:spPr>
      </p:sp>
      <p:sp>
        <p:nvSpPr>
          <p:cNvPr id="5" name="Text 3"/>
          <p:cNvSpPr/>
          <p:nvPr/>
        </p:nvSpPr>
        <p:spPr>
          <a:xfrm>
            <a:off x="502920" y="1965960"/>
            <a:ext cx="1115568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Pipeline Híbrida para Análise da</a:t>
            </a:r>
            <a:endParaRPr lang="en-US" sz="4400" dirty="0"/>
          </a:p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Alfabetização no Brasil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502920" y="3794760"/>
            <a:ext cx="9875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Dados oficiais do INEP transformados em decisão: quais municípios vão alfabetizar suas crianças até 2030?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502920" y="5029200"/>
            <a:ext cx="82296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4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 Challenge — Fase 2  ·  POSTECH AI Scientist  ·  Grupo 41</a:t>
            </a:r>
            <a:endParaRPr lang="en-US" sz="12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Bruno Lucas Fernandes dos Reis — RM371336</a:t>
            </a:r>
            <a:endParaRPr lang="en-US" sz="12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Lucas Damasceno da Cunha Lima — RM372040</a:t>
            </a:r>
            <a:endParaRPr lang="en-US" sz="12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Lucas Oliveira da Silva — RM371958</a:t>
            </a:r>
            <a:endParaRPr lang="en-US" sz="12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Luiz Guilherme Lima Sucupira — RM373474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9601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328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problema de negócio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11109960" y="475488"/>
            <a:ext cx="164592" cy="164592"/>
          </a:xfrm>
          <a:prstGeom prst="ellipse">
            <a:avLst/>
          </a:prstGeom>
          <a:solidFill>
            <a:srgbClr val="CD7F32"/>
          </a:solidFill>
          <a:ln/>
        </p:spPr>
      </p:sp>
      <p:sp>
        <p:nvSpPr>
          <p:cNvPr id="4" name="Shape 2"/>
          <p:cNvSpPr/>
          <p:nvPr/>
        </p:nvSpPr>
        <p:spPr>
          <a:xfrm>
            <a:off x="11338560" y="475488"/>
            <a:ext cx="164592" cy="164592"/>
          </a:xfrm>
          <a:prstGeom prst="ellipse">
            <a:avLst/>
          </a:prstGeom>
          <a:solidFill>
            <a:srgbClr val="9FA6AD"/>
          </a:solidFill>
          <a:ln/>
        </p:spPr>
      </p:sp>
      <p:sp>
        <p:nvSpPr>
          <p:cNvPr id="5" name="Shape 3"/>
          <p:cNvSpPr/>
          <p:nvPr/>
        </p:nvSpPr>
        <p:spPr>
          <a:xfrm>
            <a:off x="11567160" y="475488"/>
            <a:ext cx="164592" cy="164592"/>
          </a:xfrm>
          <a:prstGeom prst="ellipse">
            <a:avLst/>
          </a:prstGeom>
          <a:solidFill>
            <a:srgbClr val="D4A017"/>
          </a:solidFill>
          <a:ln/>
        </p:spPr>
      </p:sp>
      <p:sp>
        <p:nvSpPr>
          <p:cNvPr id="6" name="Shape 4"/>
          <p:cNvSpPr/>
          <p:nvPr/>
        </p:nvSpPr>
        <p:spPr>
          <a:xfrm>
            <a:off x="457200" y="1325880"/>
            <a:ext cx="3703320" cy="2377440"/>
          </a:xfrm>
          <a:prstGeom prst="roundRect">
            <a:avLst>
              <a:gd name="adj" fmla="val 3077"/>
            </a:avLst>
          </a:prstGeom>
          <a:solidFill>
            <a:srgbClr val="EEF3FC"/>
          </a:solidFill>
          <a:ln/>
        </p:spPr>
      </p:sp>
      <p:sp>
        <p:nvSpPr>
          <p:cNvPr id="7" name="Text 5"/>
          <p:cNvSpPr/>
          <p:nvPr/>
        </p:nvSpPr>
        <p:spPr>
          <a:xfrm>
            <a:off x="731520" y="1554480"/>
            <a:ext cx="31546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743</a:t>
            </a:r>
            <a:endParaRPr lang="en-US" sz="6000" dirty="0"/>
          </a:p>
        </p:txBody>
      </p:sp>
      <p:sp>
        <p:nvSpPr>
          <p:cNvPr id="8" name="Text 6"/>
          <p:cNvSpPr/>
          <p:nvPr/>
        </p:nvSpPr>
        <p:spPr>
          <a:xfrm>
            <a:off x="731520" y="2606040"/>
            <a:ext cx="31546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2328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pontos na escala Saeb: a régua oficial que define uma criança alfabetizada (INEP, 2023)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4370832" y="1325880"/>
            <a:ext cx="3703320" cy="2377440"/>
          </a:xfrm>
          <a:prstGeom prst="roundRect">
            <a:avLst>
              <a:gd name="adj" fmla="val 3077"/>
            </a:avLst>
          </a:prstGeom>
          <a:solidFill>
            <a:srgbClr val="EEF3FC"/>
          </a:solidFill>
          <a:ln/>
        </p:spPr>
      </p:sp>
      <p:sp>
        <p:nvSpPr>
          <p:cNvPr id="10" name="Text 8"/>
          <p:cNvSpPr/>
          <p:nvPr/>
        </p:nvSpPr>
        <p:spPr>
          <a:xfrm>
            <a:off x="4645152" y="1554480"/>
            <a:ext cx="31546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100%</a:t>
            </a:r>
            <a:endParaRPr lang="en-US" sz="6000" dirty="0"/>
          </a:p>
        </p:txBody>
      </p:sp>
      <p:sp>
        <p:nvSpPr>
          <p:cNvPr id="11" name="Text 9"/>
          <p:cNvSpPr/>
          <p:nvPr/>
        </p:nvSpPr>
        <p:spPr>
          <a:xfrm>
            <a:off x="4645152" y="2606040"/>
            <a:ext cx="31546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2328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 a meta nacional: toda criança alfabetizada até o fim do 2º ano do EF em 2030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8284464" y="1325880"/>
            <a:ext cx="3703320" cy="2377440"/>
          </a:xfrm>
          <a:prstGeom prst="roundRect">
            <a:avLst>
              <a:gd name="adj" fmla="val 3077"/>
            </a:avLst>
          </a:prstGeom>
          <a:solidFill>
            <a:srgbClr val="EEF3FC"/>
          </a:solidFill>
          <a:ln/>
        </p:spPr>
      </p:sp>
      <p:sp>
        <p:nvSpPr>
          <p:cNvPr id="13" name="Text 11"/>
          <p:cNvSpPr/>
          <p:nvPr/>
        </p:nvSpPr>
        <p:spPr>
          <a:xfrm>
            <a:off x="8558784" y="1554480"/>
            <a:ext cx="31546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rgbClr val="F9616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57%</a:t>
            </a:r>
            <a:endParaRPr lang="en-US" sz="6000" dirty="0"/>
          </a:p>
        </p:txBody>
      </p:sp>
      <p:sp>
        <p:nvSpPr>
          <p:cNvPr id="14" name="Text 12"/>
          <p:cNvSpPr/>
          <p:nvPr/>
        </p:nvSpPr>
        <p:spPr>
          <a:xfrm>
            <a:off x="8558784" y="2606040"/>
            <a:ext cx="31546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2328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dos 5.550 municípios avaliados ainda estão abaixo da meta pactuada já para 2025</a:t>
            </a:r>
            <a:endParaRPr lang="en-US" sz="1350" dirty="0"/>
          </a:p>
        </p:txBody>
      </p:sp>
      <p:sp>
        <p:nvSpPr>
          <p:cNvPr id="15" name="Text 13"/>
          <p:cNvSpPr/>
          <p:nvPr/>
        </p:nvSpPr>
        <p:spPr>
          <a:xfrm>
            <a:off x="457200" y="4114800"/>
            <a:ext cx="11247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328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dado existe, mas chega fragmentado: resultados por município e por estado, metas nacionais, estaduais e municipais — fontes e formatos diferentes, com novas medições chegando continuamente.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457200" y="4983480"/>
            <a:ext cx="11247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 integração com qualidade, não há priorização de investimento nem política pública baseada em evidência.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457200" y="630936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Fonte: INEP / Base dos Dados — Indicador Criança Alfabetizada (ciclos 2023 e 2024)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9601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328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Arquitetura da solução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11109960" y="475488"/>
            <a:ext cx="164592" cy="164592"/>
          </a:xfrm>
          <a:prstGeom prst="ellipse">
            <a:avLst/>
          </a:prstGeom>
          <a:solidFill>
            <a:srgbClr val="CD7F32"/>
          </a:solidFill>
          <a:ln/>
        </p:spPr>
      </p:sp>
      <p:sp>
        <p:nvSpPr>
          <p:cNvPr id="4" name="Shape 2"/>
          <p:cNvSpPr/>
          <p:nvPr/>
        </p:nvSpPr>
        <p:spPr>
          <a:xfrm>
            <a:off x="11338560" y="475488"/>
            <a:ext cx="164592" cy="164592"/>
          </a:xfrm>
          <a:prstGeom prst="ellipse">
            <a:avLst/>
          </a:prstGeom>
          <a:solidFill>
            <a:srgbClr val="9FA6AD"/>
          </a:solidFill>
          <a:ln/>
        </p:spPr>
      </p:sp>
      <p:sp>
        <p:nvSpPr>
          <p:cNvPr id="5" name="Shape 3"/>
          <p:cNvSpPr/>
          <p:nvPr/>
        </p:nvSpPr>
        <p:spPr>
          <a:xfrm>
            <a:off x="11567160" y="475488"/>
            <a:ext cx="164592" cy="164592"/>
          </a:xfrm>
          <a:prstGeom prst="ellipse">
            <a:avLst/>
          </a:prstGeom>
          <a:solidFill>
            <a:srgbClr val="D4A017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1024128"/>
            <a:ext cx="5943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FLUXO BATCH — bases oficiais INEP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57200" y="1325880"/>
            <a:ext cx="2048256" cy="1051560"/>
          </a:xfrm>
          <a:prstGeom prst="roundRect">
            <a:avLst>
              <a:gd name="adj" fmla="val 5217"/>
            </a:avLst>
          </a:prstGeom>
          <a:solidFill>
            <a:srgbClr val="1E2761"/>
          </a:solidFill>
          <a:ln/>
        </p:spPr>
      </p:sp>
      <p:sp>
        <p:nvSpPr>
          <p:cNvPr id="8" name="Text 6"/>
          <p:cNvSpPr/>
          <p:nvPr/>
        </p:nvSpPr>
        <p:spPr>
          <a:xfrm>
            <a:off x="566928" y="1325880"/>
            <a:ext cx="18288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Fontes INEP</a:t>
            </a:r>
            <a:endParaRPr lang="en-US" sz="1300" dirty="0"/>
          </a:p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bases: indicadores e metas (BR, UF, município)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2798064" y="1325880"/>
            <a:ext cx="2048256" cy="1051560"/>
          </a:xfrm>
          <a:prstGeom prst="roundRect">
            <a:avLst>
              <a:gd name="adj" fmla="val 5217"/>
            </a:avLst>
          </a:prstGeom>
          <a:solidFill>
            <a:srgbClr val="CD7F32"/>
          </a:solidFill>
          <a:ln/>
        </p:spPr>
      </p:sp>
      <p:sp>
        <p:nvSpPr>
          <p:cNvPr id="10" name="Text 8"/>
          <p:cNvSpPr/>
          <p:nvPr/>
        </p:nvSpPr>
        <p:spPr>
          <a:xfrm>
            <a:off x="2907792" y="1325880"/>
            <a:ext cx="18288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BRONZE</a:t>
            </a:r>
            <a:endParaRPr lang="en-US" sz="1300" dirty="0"/>
          </a:p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dado bruto, histórico completo preservado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5138928" y="1325880"/>
            <a:ext cx="2048256" cy="1051560"/>
          </a:xfrm>
          <a:prstGeom prst="roundRect">
            <a:avLst>
              <a:gd name="adj" fmla="val 5217"/>
            </a:avLst>
          </a:prstGeom>
          <a:solidFill>
            <a:srgbClr val="9FA6AD"/>
          </a:solidFill>
          <a:ln/>
        </p:spPr>
      </p:sp>
      <p:sp>
        <p:nvSpPr>
          <p:cNvPr id="12" name="Text 10"/>
          <p:cNvSpPr/>
          <p:nvPr/>
        </p:nvSpPr>
        <p:spPr>
          <a:xfrm>
            <a:off x="5248656" y="1325880"/>
            <a:ext cx="18288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SILVER</a:t>
            </a:r>
            <a:endParaRPr lang="en-US" sz="1300" dirty="0"/>
          </a:p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limpeza + qualidade; reprovado vai à quarentena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7479792" y="1325880"/>
            <a:ext cx="2048256" cy="1051560"/>
          </a:xfrm>
          <a:prstGeom prst="roundRect">
            <a:avLst>
              <a:gd name="adj" fmla="val 5217"/>
            </a:avLst>
          </a:prstGeom>
          <a:solidFill>
            <a:srgbClr val="D4A017"/>
          </a:solidFill>
          <a:ln/>
        </p:spPr>
      </p:sp>
      <p:sp>
        <p:nvSpPr>
          <p:cNvPr id="14" name="Text 12"/>
          <p:cNvSpPr/>
          <p:nvPr/>
        </p:nvSpPr>
        <p:spPr>
          <a:xfrm>
            <a:off x="7589520" y="1325880"/>
            <a:ext cx="18288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GOLD</a:t>
            </a:r>
            <a:endParaRPr lang="en-US" sz="1300" dirty="0"/>
          </a:p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visões analíticas prontas para decisão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9820656" y="1325880"/>
            <a:ext cx="2048256" cy="1051560"/>
          </a:xfrm>
          <a:prstGeom prst="roundRect">
            <a:avLst>
              <a:gd name="adj" fmla="val 5217"/>
            </a:avLst>
          </a:prstGeom>
          <a:solidFill>
            <a:srgbClr val="1E2761"/>
          </a:solidFill>
          <a:ln/>
        </p:spPr>
      </p:sp>
      <p:sp>
        <p:nvSpPr>
          <p:cNvPr id="16" name="Text 14"/>
          <p:cNvSpPr/>
          <p:nvPr/>
        </p:nvSpPr>
        <p:spPr>
          <a:xfrm>
            <a:off x="9930384" y="1325880"/>
            <a:ext cx="18288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Athena / BI</a:t>
            </a:r>
            <a:endParaRPr lang="en-US" sz="1300" dirty="0"/>
          </a:p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 serverless, catálogo central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2615184" y="1728216"/>
            <a:ext cx="292608" cy="256032"/>
          </a:xfrm>
          <a:prstGeom prst="rightArrow">
            <a:avLst/>
          </a:prstGeom>
          <a:solidFill>
            <a:srgbClr val="6B7280"/>
          </a:solidFill>
          <a:ln/>
        </p:spPr>
      </p:sp>
      <p:sp>
        <p:nvSpPr>
          <p:cNvPr id="18" name="Shape 16"/>
          <p:cNvSpPr/>
          <p:nvPr/>
        </p:nvSpPr>
        <p:spPr>
          <a:xfrm>
            <a:off x="4956048" y="1728216"/>
            <a:ext cx="292608" cy="256032"/>
          </a:xfrm>
          <a:prstGeom prst="rightArrow">
            <a:avLst/>
          </a:prstGeom>
          <a:solidFill>
            <a:srgbClr val="6B7280"/>
          </a:solidFill>
          <a:ln/>
        </p:spPr>
      </p:sp>
      <p:sp>
        <p:nvSpPr>
          <p:cNvPr id="19" name="Shape 17"/>
          <p:cNvSpPr/>
          <p:nvPr/>
        </p:nvSpPr>
        <p:spPr>
          <a:xfrm>
            <a:off x="7296912" y="1728216"/>
            <a:ext cx="292608" cy="256032"/>
          </a:xfrm>
          <a:prstGeom prst="rightArrow">
            <a:avLst/>
          </a:prstGeom>
          <a:solidFill>
            <a:srgbClr val="6B7280"/>
          </a:solidFill>
          <a:ln/>
        </p:spPr>
      </p:sp>
      <p:sp>
        <p:nvSpPr>
          <p:cNvPr id="20" name="Shape 18"/>
          <p:cNvSpPr/>
          <p:nvPr/>
        </p:nvSpPr>
        <p:spPr>
          <a:xfrm>
            <a:off x="9637776" y="1728216"/>
            <a:ext cx="292608" cy="256032"/>
          </a:xfrm>
          <a:prstGeom prst="rightArrow">
            <a:avLst/>
          </a:prstGeom>
          <a:solidFill>
            <a:srgbClr val="6B7280"/>
          </a:solidFill>
          <a:ln/>
        </p:spPr>
      </p:sp>
      <p:sp>
        <p:nvSpPr>
          <p:cNvPr id="21" name="Text 19"/>
          <p:cNvSpPr/>
          <p:nvPr/>
        </p:nvSpPr>
        <p:spPr>
          <a:xfrm>
            <a:off x="457200" y="2724912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FLUXO STREAMING — novas medições em tempo quase real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457200" y="3026664"/>
            <a:ext cx="2048256" cy="914400"/>
          </a:xfrm>
          <a:prstGeom prst="roundRect">
            <a:avLst>
              <a:gd name="adj" fmla="val 6000"/>
            </a:avLst>
          </a:prstGeom>
          <a:solidFill>
            <a:srgbClr val="EEF3FC"/>
          </a:solidFill>
          <a:ln/>
        </p:spPr>
      </p:sp>
      <p:sp>
        <p:nvSpPr>
          <p:cNvPr id="23" name="Text 21"/>
          <p:cNvSpPr/>
          <p:nvPr/>
        </p:nvSpPr>
        <p:spPr>
          <a:xfrm>
            <a:off x="566928" y="3026664"/>
            <a:ext cx="1828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328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EventBridge</a:t>
            </a:r>
            <a:endParaRPr lang="en-US" sz="1300" dirty="0"/>
          </a:p>
          <a:p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agenda eventos a cada 5 min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2798064" y="3026664"/>
            <a:ext cx="2048256" cy="914400"/>
          </a:xfrm>
          <a:prstGeom prst="roundRect">
            <a:avLst>
              <a:gd name="adj" fmla="val 6000"/>
            </a:avLst>
          </a:prstGeom>
          <a:solidFill>
            <a:srgbClr val="EEF3FC"/>
          </a:solidFill>
          <a:ln/>
        </p:spPr>
      </p:sp>
      <p:sp>
        <p:nvSpPr>
          <p:cNvPr id="25" name="Text 23"/>
          <p:cNvSpPr/>
          <p:nvPr/>
        </p:nvSpPr>
        <p:spPr>
          <a:xfrm>
            <a:off x="2907792" y="3026664"/>
            <a:ext cx="1828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328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Lambda Producer</a:t>
            </a:r>
            <a:endParaRPr lang="en-US" sz="1300" dirty="0"/>
          </a:p>
          <a:p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publica medições sintéticas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5138928" y="3026664"/>
            <a:ext cx="2048256" cy="914400"/>
          </a:xfrm>
          <a:prstGeom prst="roundRect">
            <a:avLst>
              <a:gd name="adj" fmla="val 6000"/>
            </a:avLst>
          </a:prstGeom>
          <a:solidFill>
            <a:srgbClr val="EEF3FC"/>
          </a:solidFill>
          <a:ln/>
        </p:spPr>
      </p:sp>
      <p:sp>
        <p:nvSpPr>
          <p:cNvPr id="27" name="Text 25"/>
          <p:cNvSpPr/>
          <p:nvPr/>
        </p:nvSpPr>
        <p:spPr>
          <a:xfrm>
            <a:off x="5248656" y="3026664"/>
            <a:ext cx="1828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328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Kafka (MSK)</a:t>
            </a:r>
            <a:endParaRPr lang="en-US" sz="1300" dirty="0"/>
          </a:p>
          <a:p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fila de eventos gerenciada</a:t>
            </a:r>
            <a:endParaRPr lang="en-US" sz="1300" dirty="0"/>
          </a:p>
        </p:txBody>
      </p:sp>
      <p:sp>
        <p:nvSpPr>
          <p:cNvPr id="28" name="Shape 26"/>
          <p:cNvSpPr/>
          <p:nvPr/>
        </p:nvSpPr>
        <p:spPr>
          <a:xfrm>
            <a:off x="7479792" y="3026664"/>
            <a:ext cx="2048256" cy="914400"/>
          </a:xfrm>
          <a:prstGeom prst="roundRect">
            <a:avLst>
              <a:gd name="adj" fmla="val 6000"/>
            </a:avLst>
          </a:prstGeom>
          <a:solidFill>
            <a:srgbClr val="EEF3FC"/>
          </a:solidFill>
          <a:ln/>
        </p:spPr>
      </p:sp>
      <p:sp>
        <p:nvSpPr>
          <p:cNvPr id="29" name="Text 27"/>
          <p:cNvSpPr/>
          <p:nvPr/>
        </p:nvSpPr>
        <p:spPr>
          <a:xfrm>
            <a:off x="7589520" y="3026664"/>
            <a:ext cx="1828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328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Glue Streaming</a:t>
            </a:r>
            <a:endParaRPr lang="en-US" sz="1300" dirty="0"/>
          </a:p>
          <a:p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classifica risco e grava no lake</a:t>
            </a:r>
            <a:endParaRPr lang="en-US" sz="1300" dirty="0"/>
          </a:p>
        </p:txBody>
      </p:sp>
      <p:sp>
        <p:nvSpPr>
          <p:cNvPr id="30" name="Shape 28"/>
          <p:cNvSpPr/>
          <p:nvPr/>
        </p:nvSpPr>
        <p:spPr>
          <a:xfrm>
            <a:off x="2615184" y="3355848"/>
            <a:ext cx="292608" cy="256032"/>
          </a:xfrm>
          <a:prstGeom prst="rightArrow">
            <a:avLst/>
          </a:prstGeom>
          <a:solidFill>
            <a:srgbClr val="6B7280"/>
          </a:solidFill>
          <a:ln/>
        </p:spPr>
      </p:sp>
      <p:sp>
        <p:nvSpPr>
          <p:cNvPr id="31" name="Shape 29"/>
          <p:cNvSpPr/>
          <p:nvPr/>
        </p:nvSpPr>
        <p:spPr>
          <a:xfrm>
            <a:off x="4956048" y="3355848"/>
            <a:ext cx="292608" cy="256032"/>
          </a:xfrm>
          <a:prstGeom prst="rightArrow">
            <a:avLst/>
          </a:prstGeom>
          <a:solidFill>
            <a:srgbClr val="6B7280"/>
          </a:solidFill>
          <a:ln/>
        </p:spPr>
      </p:sp>
      <p:sp>
        <p:nvSpPr>
          <p:cNvPr id="32" name="Shape 30"/>
          <p:cNvSpPr/>
          <p:nvPr/>
        </p:nvSpPr>
        <p:spPr>
          <a:xfrm>
            <a:off x="7296912" y="3355848"/>
            <a:ext cx="292608" cy="256032"/>
          </a:xfrm>
          <a:prstGeom prst="rightArrow">
            <a:avLst/>
          </a:prstGeom>
          <a:solidFill>
            <a:srgbClr val="6B7280"/>
          </a:solidFill>
          <a:ln/>
        </p:spPr>
      </p:sp>
      <p:sp>
        <p:nvSpPr>
          <p:cNvPr id="33" name="Shape 31"/>
          <p:cNvSpPr/>
          <p:nvPr/>
        </p:nvSpPr>
        <p:spPr>
          <a:xfrm>
            <a:off x="10140696" y="2542032"/>
            <a:ext cx="1051560" cy="1399032"/>
          </a:xfrm>
          <a:prstGeom prst="bentUpArrow">
            <a:avLst/>
          </a:prstGeom>
          <a:solidFill>
            <a:srgbClr val="6B7280"/>
          </a:solidFill>
          <a:ln/>
        </p:spPr>
      </p:sp>
      <p:sp>
        <p:nvSpPr>
          <p:cNvPr id="34" name="Text 32"/>
          <p:cNvSpPr/>
          <p:nvPr/>
        </p:nvSpPr>
        <p:spPr>
          <a:xfrm>
            <a:off x="9573768" y="4041648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entra no lake e segue o mesmo refino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457200" y="4626864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328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Três decisões sustentam custo e confiabilidade</a:t>
            </a:r>
            <a:endParaRPr lang="en-US" sz="1300" dirty="0"/>
          </a:p>
        </p:txBody>
      </p:sp>
      <p:sp>
        <p:nvSpPr>
          <p:cNvPr id="36" name="Shape 34"/>
          <p:cNvSpPr/>
          <p:nvPr/>
        </p:nvSpPr>
        <p:spPr>
          <a:xfrm>
            <a:off x="457200" y="5029200"/>
            <a:ext cx="3703320" cy="1234440"/>
          </a:xfrm>
          <a:prstGeom prst="roundRect">
            <a:avLst>
              <a:gd name="adj" fmla="val 5926"/>
            </a:avLst>
          </a:prstGeom>
          <a:solidFill>
            <a:srgbClr val="EEF3FC"/>
          </a:solidFill>
          <a:ln/>
        </p:spPr>
      </p:sp>
      <p:sp>
        <p:nvSpPr>
          <p:cNvPr id="37" name="Text 35"/>
          <p:cNvSpPr/>
          <p:nvPr/>
        </p:nvSpPr>
        <p:spPr>
          <a:xfrm>
            <a:off x="685800" y="5029200"/>
            <a:ext cx="324612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Partição por ano (ano=YYYY)</a:t>
            </a:r>
            <a:endParaRPr lang="en-US" sz="1350" dirty="0"/>
          </a:p>
          <a:p>
            <a:pPr indent="0" marL="0">
              <a:buNone/>
            </a:pPr>
            <a:r>
              <a:rPr lang="en-US" sz="1150" dirty="0">
                <a:solidFill>
                  <a:srgbClr val="2328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consultas leem só o ano filtrado — menos bytes, menos custo</a:t>
            </a:r>
            <a:endParaRPr lang="en-US" sz="1350" dirty="0"/>
          </a:p>
        </p:txBody>
      </p:sp>
      <p:sp>
        <p:nvSpPr>
          <p:cNvPr id="38" name="Shape 36"/>
          <p:cNvSpPr/>
          <p:nvPr/>
        </p:nvSpPr>
        <p:spPr>
          <a:xfrm>
            <a:off x="4370832" y="5029200"/>
            <a:ext cx="3703320" cy="1234440"/>
          </a:xfrm>
          <a:prstGeom prst="roundRect">
            <a:avLst>
              <a:gd name="adj" fmla="val 5926"/>
            </a:avLst>
          </a:prstGeom>
          <a:solidFill>
            <a:srgbClr val="EEF3FC"/>
          </a:solidFill>
          <a:ln/>
        </p:spPr>
      </p:sp>
      <p:sp>
        <p:nvSpPr>
          <p:cNvPr id="39" name="Text 37"/>
          <p:cNvSpPr/>
          <p:nvPr/>
        </p:nvSpPr>
        <p:spPr>
          <a:xfrm>
            <a:off x="4599432" y="5029200"/>
            <a:ext cx="324612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Jobs idempotentes</a:t>
            </a:r>
            <a:endParaRPr lang="en-US" sz="1350" dirty="0"/>
          </a:p>
          <a:p>
            <a:pPr indent="0" marL="0">
              <a:buNone/>
            </a:pPr>
            <a:r>
              <a:rPr lang="en-US" sz="1150" dirty="0">
                <a:solidFill>
                  <a:srgbClr val="2328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reprocessar nunca duplica nem corrompe — provado em notebooks</a:t>
            </a:r>
            <a:endParaRPr lang="en-US" sz="1350" dirty="0"/>
          </a:p>
        </p:txBody>
      </p:sp>
      <p:sp>
        <p:nvSpPr>
          <p:cNvPr id="40" name="Shape 38"/>
          <p:cNvSpPr/>
          <p:nvPr/>
        </p:nvSpPr>
        <p:spPr>
          <a:xfrm>
            <a:off x="8284464" y="5029200"/>
            <a:ext cx="3703320" cy="1234440"/>
          </a:xfrm>
          <a:prstGeom prst="roundRect">
            <a:avLst>
              <a:gd name="adj" fmla="val 5926"/>
            </a:avLst>
          </a:prstGeom>
          <a:solidFill>
            <a:srgbClr val="EEF3FC"/>
          </a:solidFill>
          <a:ln/>
        </p:spPr>
      </p:sp>
      <p:sp>
        <p:nvSpPr>
          <p:cNvPr id="41" name="Text 39"/>
          <p:cNvSpPr/>
          <p:nvPr/>
        </p:nvSpPr>
        <p:spPr>
          <a:xfrm>
            <a:off x="8513064" y="5029200"/>
            <a:ext cx="324612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Infraestrutura efêmera</a:t>
            </a:r>
            <a:endParaRPr lang="en-US" sz="1350" dirty="0"/>
          </a:p>
          <a:p>
            <a:pPr indent="0" marL="0">
              <a:buNone/>
            </a:pPr>
            <a:r>
              <a:rPr lang="en-US" sz="1150" dirty="0">
                <a:solidFill>
                  <a:srgbClr val="2328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sobe por script, é auditada e destruída: ~US$ 1 por sessão</a:t>
            </a:r>
            <a:endParaRPr lang="en-US" sz="13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9601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328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Valor para a gestão educacional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11109960" y="475488"/>
            <a:ext cx="164592" cy="164592"/>
          </a:xfrm>
          <a:prstGeom prst="ellipse">
            <a:avLst/>
          </a:prstGeom>
          <a:solidFill>
            <a:srgbClr val="CD7F32"/>
          </a:solidFill>
          <a:ln/>
        </p:spPr>
      </p:sp>
      <p:sp>
        <p:nvSpPr>
          <p:cNvPr id="4" name="Shape 2"/>
          <p:cNvSpPr/>
          <p:nvPr/>
        </p:nvSpPr>
        <p:spPr>
          <a:xfrm>
            <a:off x="11338560" y="475488"/>
            <a:ext cx="164592" cy="164592"/>
          </a:xfrm>
          <a:prstGeom prst="ellipse">
            <a:avLst/>
          </a:prstGeom>
          <a:solidFill>
            <a:srgbClr val="9FA6AD"/>
          </a:solidFill>
          <a:ln/>
        </p:spPr>
      </p:sp>
      <p:sp>
        <p:nvSpPr>
          <p:cNvPr id="5" name="Shape 3"/>
          <p:cNvSpPr/>
          <p:nvPr/>
        </p:nvSpPr>
        <p:spPr>
          <a:xfrm>
            <a:off x="11567160" y="475488"/>
            <a:ext cx="164592" cy="164592"/>
          </a:xfrm>
          <a:prstGeom prst="ellipse">
            <a:avLst/>
          </a:prstGeom>
          <a:solidFill>
            <a:srgbClr val="D4A017"/>
          </a:solidFill>
          <a:ln/>
        </p:spPr>
      </p:sp>
      <p:sp>
        <p:nvSpPr>
          <p:cNvPr id="6" name="Shape 4"/>
          <p:cNvSpPr/>
          <p:nvPr/>
        </p:nvSpPr>
        <p:spPr>
          <a:xfrm>
            <a:off x="457200" y="1426464"/>
            <a:ext cx="384048" cy="384048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142646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1005840" y="1371600"/>
            <a:ext cx="45720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Onde estamos?</a:t>
            </a:r>
            <a:endParaRPr lang="en-US" sz="1600" dirty="0"/>
          </a:p>
          <a:p>
            <a:pPr indent="0" marL="0">
              <a:buNone/>
            </a:pPr>
            <a:r>
              <a:rPr lang="en-US" sz="1300" dirty="0">
                <a:solidFill>
                  <a:srgbClr val="2328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taxa de alfabetização por município e UF, ciclo a ciclo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457200" y="2633472"/>
            <a:ext cx="384048" cy="384048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0" name="Text 8"/>
          <p:cNvSpPr/>
          <p:nvPr/>
        </p:nvSpPr>
        <p:spPr>
          <a:xfrm>
            <a:off x="457200" y="263347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1005840" y="2578608"/>
            <a:ext cx="45720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Quem precisa de ajuda primeiro?</a:t>
            </a:r>
            <a:endParaRPr lang="en-US" sz="1600" dirty="0"/>
          </a:p>
          <a:p>
            <a:pPr indent="0" marL="0">
              <a:buNone/>
            </a:pPr>
            <a:r>
              <a:rPr lang="en-US" sz="1300" dirty="0">
                <a:solidFill>
                  <a:srgbClr val="2328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ranking aponta os municípios críticos dentro de cada UF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457200" y="3840480"/>
            <a:ext cx="384048" cy="384048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3" name="Text 11"/>
          <p:cNvSpPr/>
          <p:nvPr/>
        </p:nvSpPr>
        <p:spPr>
          <a:xfrm>
            <a:off x="457200" y="38404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1005840" y="3785616"/>
            <a:ext cx="45720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Estamos no rumo da meta?</a:t>
            </a:r>
            <a:endParaRPr lang="en-US" sz="1600" dirty="0"/>
          </a:p>
          <a:p>
            <a:pPr indent="0" marL="0">
              <a:buNone/>
            </a:pPr>
            <a:r>
              <a:rPr lang="en-US" sz="1300" dirty="0">
                <a:solidFill>
                  <a:srgbClr val="2328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gap entre resultado e meta pactuada, município a município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457200" y="5047488"/>
            <a:ext cx="384048" cy="384048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6" name="Text 14"/>
          <p:cNvSpPr/>
          <p:nvPr/>
        </p:nvSpPr>
        <p:spPr>
          <a:xfrm>
            <a:off x="457200" y="504748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1005840" y="4992624"/>
            <a:ext cx="45720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situação melhora ou piora?</a:t>
            </a:r>
            <a:endParaRPr lang="en-US" sz="1600" dirty="0"/>
          </a:p>
          <a:p>
            <a:pPr indent="0" marL="0">
              <a:buNone/>
            </a:pPr>
            <a:r>
              <a:rPr lang="en-US" sz="1300" dirty="0">
                <a:solidFill>
                  <a:srgbClr val="2328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série histórica mede a evolução e o efeito das intervenções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457200" y="6172200"/>
            <a:ext cx="5486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Respostas em segundos, via SQL, sobre uma base validada, catalogada e com custo de consulta controlado.</a:t>
            </a:r>
            <a:endParaRPr lang="en-US" sz="1150" dirty="0"/>
          </a:p>
        </p:txBody>
      </p:sp>
      <p:graphicFrame>
        <p:nvGraphicFramePr>
          <p:cNvPr id="19" name="Chart 0" descr=""/>
          <p:cNvGraphicFramePr/>
          <p:nvPr/>
        </p:nvGraphicFramePr>
        <p:xfrm>
          <a:off x="6309360" y="1325880"/>
          <a:ext cx="5486400" cy="42062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20" name="Text 17"/>
          <p:cNvSpPr/>
          <p:nvPr/>
        </p:nvSpPr>
        <p:spPr>
          <a:xfrm>
            <a:off x="6309360" y="5669280"/>
            <a:ext cx="5486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 de 24 UFs </a:t>
            </a:r>
            <a:pPr indent="0" marL="0">
              <a:buNone/>
            </a:pPr>
            <a:r>
              <a:rPr lang="en-US" sz="1300" dirty="0">
                <a:solidFill>
                  <a:srgbClr val="2328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avaliadas na rede municipal ainda estão abaixo da meta pactuada para 2025.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9601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328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 medição à antecipação: IA sobre a camada Gold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11109960" y="475488"/>
            <a:ext cx="164592" cy="164592"/>
          </a:xfrm>
          <a:prstGeom prst="ellipse">
            <a:avLst/>
          </a:prstGeom>
          <a:solidFill>
            <a:srgbClr val="CD7F32"/>
          </a:solidFill>
          <a:ln/>
        </p:spPr>
      </p:sp>
      <p:sp>
        <p:nvSpPr>
          <p:cNvPr id="4" name="Shape 2"/>
          <p:cNvSpPr/>
          <p:nvPr/>
        </p:nvSpPr>
        <p:spPr>
          <a:xfrm>
            <a:off x="11338560" y="475488"/>
            <a:ext cx="164592" cy="164592"/>
          </a:xfrm>
          <a:prstGeom prst="ellipse">
            <a:avLst/>
          </a:prstGeom>
          <a:solidFill>
            <a:srgbClr val="9FA6AD"/>
          </a:solidFill>
          <a:ln/>
        </p:spPr>
      </p:sp>
      <p:sp>
        <p:nvSpPr>
          <p:cNvPr id="5" name="Shape 3"/>
          <p:cNvSpPr/>
          <p:nvPr/>
        </p:nvSpPr>
        <p:spPr>
          <a:xfrm>
            <a:off x="11567160" y="475488"/>
            <a:ext cx="164592" cy="164592"/>
          </a:xfrm>
          <a:prstGeom prst="ellipse">
            <a:avLst/>
          </a:prstGeom>
          <a:solidFill>
            <a:srgbClr val="D4A017"/>
          </a:solidFill>
          <a:ln/>
        </p:spPr>
      </p:sp>
      <p:sp>
        <p:nvSpPr>
          <p:cNvPr id="6" name="Shape 4"/>
          <p:cNvSpPr/>
          <p:nvPr/>
        </p:nvSpPr>
        <p:spPr>
          <a:xfrm>
            <a:off x="457200" y="1463040"/>
            <a:ext cx="3703320" cy="3200400"/>
          </a:xfrm>
          <a:prstGeom prst="roundRect">
            <a:avLst>
              <a:gd name="adj" fmla="val 2286"/>
            </a:avLst>
          </a:prstGeom>
          <a:solidFill>
            <a:srgbClr val="EEF3FC"/>
          </a:solidFill>
          <a:ln/>
        </p:spPr>
      </p:sp>
      <p:sp>
        <p:nvSpPr>
          <p:cNvPr id="7" name="Shape 5"/>
          <p:cNvSpPr/>
          <p:nvPr/>
        </p:nvSpPr>
        <p:spPr>
          <a:xfrm>
            <a:off x="731520" y="1783080"/>
            <a:ext cx="548640" cy="548640"/>
          </a:xfrm>
          <a:prstGeom prst="ellipse">
            <a:avLst/>
          </a:prstGeom>
          <a:solidFill>
            <a:srgbClr val="D4A017"/>
          </a:solidFill>
          <a:ln/>
        </p:spPr>
      </p:sp>
      <p:sp>
        <p:nvSpPr>
          <p:cNvPr id="8" name="Text 6"/>
          <p:cNvSpPr/>
          <p:nvPr/>
        </p:nvSpPr>
        <p:spPr>
          <a:xfrm>
            <a:off x="731520" y="2514600"/>
            <a:ext cx="3154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Predição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731520" y="3017520"/>
            <a:ext cx="31546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2328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modelos que antecipam quais municípios não atingirão a meta de 2030 — antes da próxima avaliação oficial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4370832" y="1463040"/>
            <a:ext cx="3703320" cy="3200400"/>
          </a:xfrm>
          <a:prstGeom prst="roundRect">
            <a:avLst>
              <a:gd name="adj" fmla="val 2286"/>
            </a:avLst>
          </a:prstGeom>
          <a:solidFill>
            <a:srgbClr val="EEF3FC"/>
          </a:solidFill>
          <a:ln/>
        </p:spPr>
      </p:sp>
      <p:sp>
        <p:nvSpPr>
          <p:cNvPr id="11" name="Shape 9"/>
          <p:cNvSpPr/>
          <p:nvPr/>
        </p:nvSpPr>
        <p:spPr>
          <a:xfrm>
            <a:off x="4645152" y="1783080"/>
            <a:ext cx="548640" cy="548640"/>
          </a:xfrm>
          <a:prstGeom prst="ellipse">
            <a:avLst/>
          </a:prstGeom>
          <a:solidFill>
            <a:srgbClr val="9FA6AD"/>
          </a:solidFill>
          <a:ln/>
        </p:spPr>
      </p:sp>
      <p:sp>
        <p:nvSpPr>
          <p:cNvPr id="12" name="Text 10"/>
          <p:cNvSpPr/>
          <p:nvPr/>
        </p:nvSpPr>
        <p:spPr>
          <a:xfrm>
            <a:off x="4645152" y="2514600"/>
            <a:ext cx="3154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Segmentação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4645152" y="3017520"/>
            <a:ext cx="31546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2328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clusters de vulnerabilidade educacional: intervenções desenhadas por perfil, não pela média nacional</a:t>
            </a:r>
            <a:endParaRPr lang="en-US" sz="1350" dirty="0"/>
          </a:p>
        </p:txBody>
      </p:sp>
      <p:sp>
        <p:nvSpPr>
          <p:cNvPr id="14" name="Shape 12"/>
          <p:cNvSpPr/>
          <p:nvPr/>
        </p:nvSpPr>
        <p:spPr>
          <a:xfrm>
            <a:off x="8284464" y="1463040"/>
            <a:ext cx="3703320" cy="3200400"/>
          </a:xfrm>
          <a:prstGeom prst="roundRect">
            <a:avLst>
              <a:gd name="adj" fmla="val 2286"/>
            </a:avLst>
          </a:prstGeom>
          <a:solidFill>
            <a:srgbClr val="EEF3FC"/>
          </a:solidFill>
          <a:ln/>
        </p:spPr>
      </p:sp>
      <p:sp>
        <p:nvSpPr>
          <p:cNvPr id="15" name="Shape 13"/>
          <p:cNvSpPr/>
          <p:nvPr/>
        </p:nvSpPr>
        <p:spPr>
          <a:xfrm>
            <a:off x="8558784" y="1783080"/>
            <a:ext cx="548640" cy="548640"/>
          </a:xfrm>
          <a:prstGeom prst="ellipse">
            <a:avLst/>
          </a:prstGeom>
          <a:solidFill>
            <a:srgbClr val="CD7F32"/>
          </a:solidFill>
          <a:ln/>
        </p:spPr>
      </p:sp>
      <p:sp>
        <p:nvSpPr>
          <p:cNvPr id="16" name="Text 14"/>
          <p:cNvSpPr/>
          <p:nvPr/>
        </p:nvSpPr>
        <p:spPr>
          <a:xfrm>
            <a:off x="8558784" y="2514600"/>
            <a:ext cx="3154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Priorização contínua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8558784" y="3017520"/>
            <a:ext cx="31546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2328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flag de risco calculada no streaming permite reagir a novas medições em tempo quase real</a:t>
            </a:r>
            <a:endParaRPr lang="en-US" sz="1350" dirty="0"/>
          </a:p>
        </p:txBody>
      </p:sp>
      <p:sp>
        <p:nvSpPr>
          <p:cNvPr id="18" name="Text 16"/>
          <p:cNvSpPr/>
          <p:nvPr/>
        </p:nvSpPr>
        <p:spPr>
          <a:xfrm>
            <a:off x="457200" y="512064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Arquitetura aberta a enriquecimento: </a:t>
            </a:r>
            <a:pPr indent="0" marL="0">
              <a:buNone/>
            </a:pPr>
            <a:r>
              <a:rPr lang="en-US" sz="1500" dirty="0">
                <a:solidFill>
                  <a:srgbClr val="2328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dados socioeconômicos (IBGE, Censo Escolar, FUNDEB) entram como novas fontes — sem mudar a arquitetura.</a:t>
            </a:r>
            <a:endParaRPr lang="en-US" sz="15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548640"/>
            <a:ext cx="219456" cy="219456"/>
          </a:xfrm>
          <a:prstGeom prst="ellipse">
            <a:avLst/>
          </a:prstGeom>
          <a:solidFill>
            <a:srgbClr val="CD7F32"/>
          </a:solidFill>
          <a:ln/>
        </p:spPr>
      </p:sp>
      <p:sp>
        <p:nvSpPr>
          <p:cNvPr id="3" name="Shape 1"/>
          <p:cNvSpPr/>
          <p:nvPr/>
        </p:nvSpPr>
        <p:spPr>
          <a:xfrm>
            <a:off x="786384" y="548640"/>
            <a:ext cx="219456" cy="219456"/>
          </a:xfrm>
          <a:prstGeom prst="ellipse">
            <a:avLst/>
          </a:prstGeom>
          <a:solidFill>
            <a:srgbClr val="9FA6AD"/>
          </a:solidFill>
          <a:ln/>
        </p:spPr>
      </p:sp>
      <p:sp>
        <p:nvSpPr>
          <p:cNvPr id="4" name="Shape 2"/>
          <p:cNvSpPr/>
          <p:nvPr/>
        </p:nvSpPr>
        <p:spPr>
          <a:xfrm>
            <a:off x="1069848" y="548640"/>
            <a:ext cx="219456" cy="219456"/>
          </a:xfrm>
          <a:prstGeom prst="ellipse">
            <a:avLst/>
          </a:prstGeom>
          <a:solidFill>
            <a:srgbClr val="D4A017"/>
          </a:solidFill>
          <a:ln/>
        </p:spPr>
      </p:sp>
      <p:sp>
        <p:nvSpPr>
          <p:cNvPr id="5" name="Text 3"/>
          <p:cNvSpPr/>
          <p:nvPr/>
        </p:nvSpPr>
        <p:spPr>
          <a:xfrm>
            <a:off x="502920" y="1828800"/>
            <a:ext cx="111556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 dados fragmentados a decisão com evidência</a:t>
            </a:r>
            <a:endParaRPr lang="en-US" sz="3800" dirty="0"/>
          </a:p>
        </p:txBody>
      </p:sp>
      <p:sp>
        <p:nvSpPr>
          <p:cNvPr id="6" name="Text 4"/>
          <p:cNvSpPr/>
          <p:nvPr/>
        </p:nvSpPr>
        <p:spPr>
          <a:xfrm>
            <a:off x="502920" y="2971800"/>
            <a:ext cx="10515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Uma plataforma escalável, auditável e de baixo custo, que diz onde agir, com que urgência e com qual evidência — pronta para alimentar os modelos que vão antecipar o problema em vez de apenas medi-lo.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502920" y="466344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Código, documentação e análises:  </a:t>
            </a:r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github.com/Luodev/1IAST-Fase2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502920" y="5760720"/>
            <a:ext cx="5486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Obrigado.</a:t>
            </a:r>
            <a:endParaRPr lang="en-US" sz="2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2026-07-11T16:58:40Z</dcterms:created>
  <dcterms:modified xsi:type="dcterms:W3CDTF">2026-07-11T16:58:40Z</dcterms:modified>
</cp:coreProperties>
</file>